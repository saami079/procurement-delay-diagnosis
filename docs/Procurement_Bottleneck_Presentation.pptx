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70" d="100"/>
          <a:sy n="70" d="100"/>
        </p:scale>
        <p:origin x="512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5855695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microsoft.com/office/2007/relationships/hdphoto" Target="../media/hdphoto1.wdp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50A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" y="0"/>
            <a:ext cx="12188952" cy="6858000"/>
          </a:xfrm>
          <a:prstGeom prst="rect">
            <a:avLst/>
          </a:prstGeom>
          <a:solidFill>
            <a:srgbClr val="050A14"/>
          </a:solidFill>
          <a:ln w="12700">
            <a:solidFill>
              <a:srgbClr val="050A1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640080" y="685800"/>
            <a:ext cx="6419088" cy="1214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4F5F7"/>
                </a:solidFill>
              </a:rPr>
              <a:t>Diagnosing Bottlenecks in Procurement Approval Processes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58368" y="1876467"/>
            <a:ext cx="6035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B5BBC8"/>
                </a:solidFill>
              </a:rPr>
              <a:t>Data-driven workflow analysis, bottleneck diagnosis, and delay-risk prediction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640080" y="2886285"/>
            <a:ext cx="4795520" cy="3460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b="1" dirty="0">
                <a:solidFill>
                  <a:srgbClr val="FFC400"/>
                </a:solidFill>
              </a:rPr>
              <a:t>Saami Anware  </a:t>
            </a:r>
          </a:p>
          <a:p>
            <a:r>
              <a:rPr lang="en-US" b="1" dirty="0">
                <a:solidFill>
                  <a:srgbClr val="FFC400"/>
                </a:solidFill>
              </a:rPr>
              <a:t>Data Analyst | Business Analytics Focus  </a:t>
            </a:r>
          </a:p>
          <a:p>
            <a:r>
              <a:rPr lang="en-US" b="1" dirty="0">
                <a:solidFill>
                  <a:srgbClr val="FFC400"/>
                </a:solidFill>
              </a:rPr>
              <a:t>MSc Data Science 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640080" y="3852843"/>
            <a:ext cx="52120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8C2E6"/>
                </a:solidFill>
              </a:rPr>
              <a:t>Live dashboard: procurement-bottleneck-</a:t>
            </a:r>
            <a:r>
              <a:rPr lang="en-US" sz="1400" dirty="0" err="1">
                <a:solidFill>
                  <a:srgbClr val="18C2E6"/>
                </a:solidFill>
              </a:rPr>
              <a:t>dashboard.streamlit.app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7205472" y="685800"/>
            <a:ext cx="4315968" cy="5303520"/>
          </a:xfrm>
          <a:prstGeom prst="roundRect">
            <a:avLst>
              <a:gd name="adj" fmla="val 1905"/>
            </a:avLst>
          </a:prstGeom>
          <a:solidFill>
            <a:srgbClr val="121A28"/>
          </a:solidFill>
          <a:ln w="12700">
            <a:solidFill>
              <a:srgbClr val="2B364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612648" y="4524334"/>
            <a:ext cx="6126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F4F5F7"/>
                </a:solidFill>
              </a:rPr>
              <a:t>A decision-support dashboard built on synthetic workflow data, process diagnostics, and a leakage-controlled prediction model.</a:t>
            </a:r>
            <a:endParaRPr lang="en-US" sz="2000" dirty="0"/>
          </a:p>
        </p:txBody>
      </p:sp>
      <p:sp>
        <p:nvSpPr>
          <p:cNvPr id="10" name="Text 7"/>
          <p:cNvSpPr/>
          <p:nvPr/>
        </p:nvSpPr>
        <p:spPr>
          <a:xfrm>
            <a:off x="11612880" y="6492240"/>
            <a:ext cx="228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F8796"/>
                </a:solidFill>
              </a:rPr>
              <a:t>1</a:t>
            </a:r>
            <a:endParaRPr lang="en-US" sz="900" dirty="0"/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4B2370F4-823E-3DCF-D87D-221E59F7FD8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harpenSoften amount="50000"/>
                    </a14:imgEffect>
                  </a14:imgLayer>
                </a14:imgProps>
              </a:ext>
            </a:extLst>
          </a:blip>
          <a:srcRect l="47054"/>
          <a:stretch>
            <a:fillRect/>
          </a:stretch>
        </p:blipFill>
        <p:spPr>
          <a:xfrm>
            <a:off x="7342632" y="753082"/>
            <a:ext cx="4032504" cy="5077500"/>
          </a:xfrm>
          <a:prstGeom prst="rect">
            <a:avLst/>
          </a:prstGeom>
          <a:effectLst>
            <a:outerShdw dist="50800" dir="5400000" algn="ctr" rotWithShape="0">
              <a:srgbClr val="000000">
                <a:alpha val="43137"/>
              </a:srgbClr>
            </a:outerShdw>
          </a:effec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50A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50A14"/>
          </a:solidFill>
          <a:ln w="12700">
            <a:solidFill>
              <a:srgbClr val="050A1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7132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4F5F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Problem and objective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40080" y="1115568"/>
            <a:ext cx="7955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B5BBC8"/>
                </a:solidFill>
              </a:rPr>
              <a:t>Why procurement workflows need diagnosis, not just reporting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40080" y="1600200"/>
            <a:ext cx="5486400" cy="256032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177800" indent="-177800">
              <a:buSzPct val="100000"/>
              <a:buChar char="•"/>
            </a:pPr>
            <a:r>
              <a:rPr lang="en-US" sz="2100" dirty="0">
                <a:solidFill>
                  <a:srgbClr val="F4F5F7"/>
                </a:solidFill>
              </a:rPr>
              <a:t>Sequential approvals create dependency-driven delays that are hard to localize.</a:t>
            </a:r>
            <a:endParaRPr lang="en-US" sz="2100" dirty="0"/>
          </a:p>
          <a:p>
            <a:pPr marL="177800" indent="-177800">
              <a:buSzPct val="100000"/>
              <a:buChar char="•"/>
            </a:pPr>
            <a:r>
              <a:rPr lang="en-US" sz="2100" dirty="0">
                <a:solidFill>
                  <a:srgbClr val="F4F5F7"/>
                </a:solidFill>
              </a:rPr>
              <a:t>Organizations often see SLA breach outcomes but not the stage causing the delay.</a:t>
            </a:r>
            <a:endParaRPr lang="en-US" sz="2100" dirty="0"/>
          </a:p>
          <a:p>
            <a:pPr marL="177800" indent="-177800">
              <a:buSzPct val="100000"/>
              <a:buChar char="•"/>
            </a:pPr>
            <a:r>
              <a:rPr lang="en-US" sz="2100" dirty="0">
                <a:solidFill>
                  <a:srgbClr val="F4F5F7"/>
                </a:solidFill>
              </a:rPr>
              <a:t>The project objective was to identify bottlenecks, explain delay drivers, predict risk, and support action through a dashboard.</a:t>
            </a:r>
            <a:endParaRPr lang="en-US" sz="2100" dirty="0"/>
          </a:p>
        </p:txBody>
      </p:sp>
      <p:sp>
        <p:nvSpPr>
          <p:cNvPr id="6" name="Shape 4"/>
          <p:cNvSpPr/>
          <p:nvPr/>
        </p:nvSpPr>
        <p:spPr>
          <a:xfrm>
            <a:off x="6766560" y="1188720"/>
            <a:ext cx="4754880" cy="4297680"/>
          </a:xfrm>
          <a:prstGeom prst="roundRect">
            <a:avLst>
              <a:gd name="adj" fmla="val 1702"/>
            </a:avLst>
          </a:prstGeom>
          <a:solidFill>
            <a:srgbClr val="121A28"/>
          </a:solidFill>
          <a:ln w="12700">
            <a:solidFill>
              <a:srgbClr val="2B364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7315200" y="1600200"/>
            <a:ext cx="3657600" cy="566928"/>
          </a:xfrm>
          <a:prstGeom prst="roundRect">
            <a:avLst>
              <a:gd name="adj" fmla="val 8065"/>
            </a:avLst>
          </a:prstGeom>
          <a:solidFill>
            <a:srgbClr val="050A14"/>
          </a:solidFill>
          <a:ln w="12700">
            <a:solidFill>
              <a:srgbClr val="2B364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7498080" y="1737360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C400"/>
                </a:solidFill>
              </a:rPr>
              <a:t>1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7863840" y="1737360"/>
            <a:ext cx="2743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F4F5F7"/>
                </a:solidFill>
              </a:rPr>
              <a:t>Stage-level timing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7315200" y="2468880"/>
            <a:ext cx="3657600" cy="566928"/>
          </a:xfrm>
          <a:prstGeom prst="roundRect">
            <a:avLst>
              <a:gd name="adj" fmla="val 8065"/>
            </a:avLst>
          </a:prstGeom>
          <a:solidFill>
            <a:srgbClr val="1A2435"/>
          </a:solidFill>
          <a:ln w="12700">
            <a:solidFill>
              <a:srgbClr val="2B364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7498080" y="2606040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C400"/>
                </a:solidFill>
              </a:rPr>
              <a:t>2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7863840" y="2606040"/>
            <a:ext cx="2743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F4F5F7"/>
                </a:solidFill>
              </a:rPr>
              <a:t>Request-level aggregation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7315200" y="3337560"/>
            <a:ext cx="3657600" cy="566928"/>
          </a:xfrm>
          <a:prstGeom prst="roundRect">
            <a:avLst>
              <a:gd name="adj" fmla="val 8065"/>
            </a:avLst>
          </a:prstGeom>
          <a:solidFill>
            <a:srgbClr val="050A14"/>
          </a:solidFill>
          <a:ln w="12700">
            <a:solidFill>
              <a:srgbClr val="2B364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7498080" y="3474720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C400"/>
                </a:solidFill>
              </a:rPr>
              <a:t>3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7863840" y="3474720"/>
            <a:ext cx="2743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F4F5F7"/>
                </a:solidFill>
              </a:rPr>
              <a:t>Bottleneck diagnosis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7315200" y="4206240"/>
            <a:ext cx="3657600" cy="566928"/>
          </a:xfrm>
          <a:prstGeom prst="roundRect">
            <a:avLst>
              <a:gd name="adj" fmla="val 8065"/>
            </a:avLst>
          </a:prstGeom>
          <a:solidFill>
            <a:srgbClr val="1A2435"/>
          </a:solidFill>
          <a:ln w="12700">
            <a:solidFill>
              <a:srgbClr val="2B364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7498080" y="4343400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C400"/>
                </a:solidFill>
              </a:rPr>
              <a:t>4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7863840" y="4343400"/>
            <a:ext cx="2743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F4F5F7"/>
                </a:solidFill>
              </a:rPr>
              <a:t>Delay-risk prediction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11612880" y="6492240"/>
            <a:ext cx="228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F8796"/>
                </a:solidFill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50A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8288" y="0"/>
            <a:ext cx="12188952" cy="6858000"/>
          </a:xfrm>
          <a:prstGeom prst="rect">
            <a:avLst/>
          </a:prstGeom>
          <a:solidFill>
            <a:srgbClr val="050A14"/>
          </a:solidFill>
          <a:ln w="12700">
            <a:solidFill>
              <a:srgbClr val="050A1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640080" y="583050"/>
            <a:ext cx="7132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4F5F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Approach and pipeline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40080" y="1040250"/>
            <a:ext cx="7955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B5BBC8"/>
                </a:solidFill>
              </a:rPr>
              <a:t>End-to-end structure used in the project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40080" y="2286000"/>
            <a:ext cx="1600200" cy="1051560"/>
          </a:xfrm>
          <a:prstGeom prst="roundRect">
            <a:avLst>
              <a:gd name="adj" fmla="val 6957"/>
            </a:avLst>
          </a:prstGeom>
          <a:solidFill>
            <a:srgbClr val="121A28"/>
          </a:solidFill>
          <a:ln w="12700">
            <a:solidFill>
              <a:srgbClr val="2B364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713232" y="2450592"/>
            <a:ext cx="2743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8C2E6"/>
                </a:solidFill>
              </a:rPr>
              <a:t>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04672" y="2697480"/>
            <a:ext cx="126187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4F5F7"/>
                </a:solidFill>
              </a:rPr>
              <a:t>Synthetic data generation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2286000" y="2697480"/>
            <a:ext cx="164592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B5BBC8"/>
                </a:solidFill>
              </a:rPr>
              <a:t>→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2514600" y="2286000"/>
            <a:ext cx="1600200" cy="1051560"/>
          </a:xfrm>
          <a:prstGeom prst="roundRect">
            <a:avLst>
              <a:gd name="adj" fmla="val 6957"/>
            </a:avLst>
          </a:prstGeom>
          <a:solidFill>
            <a:srgbClr val="121A28"/>
          </a:solidFill>
          <a:ln w="12700">
            <a:solidFill>
              <a:srgbClr val="2B364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2587752" y="2450592"/>
            <a:ext cx="2743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8C2E6"/>
                </a:solidFill>
              </a:rPr>
              <a:t>2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2679192" y="2697480"/>
            <a:ext cx="126187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4F5F7"/>
                </a:solidFill>
              </a:rPr>
              <a:t>Processing and feature engineering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160520" y="2697480"/>
            <a:ext cx="164592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B5BBC8"/>
                </a:solidFill>
              </a:rPr>
              <a:t>→</a:t>
            </a:r>
            <a:endParaRPr lang="en-US" sz="2000" dirty="0"/>
          </a:p>
        </p:txBody>
      </p:sp>
      <p:sp>
        <p:nvSpPr>
          <p:cNvPr id="13" name="Shape 11"/>
          <p:cNvSpPr/>
          <p:nvPr/>
        </p:nvSpPr>
        <p:spPr>
          <a:xfrm>
            <a:off x="4389120" y="2286000"/>
            <a:ext cx="1600200" cy="1051560"/>
          </a:xfrm>
          <a:prstGeom prst="roundRect">
            <a:avLst>
              <a:gd name="adj" fmla="val 6957"/>
            </a:avLst>
          </a:prstGeom>
          <a:solidFill>
            <a:srgbClr val="121A28"/>
          </a:solidFill>
          <a:ln w="12700">
            <a:solidFill>
              <a:srgbClr val="2B364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4462272" y="2450592"/>
            <a:ext cx="2743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8C2E6"/>
                </a:solidFill>
              </a:rPr>
              <a:t>3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4553712" y="2697480"/>
            <a:ext cx="126187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4F5F7"/>
                </a:solidFill>
              </a:rPr>
              <a:t>EDA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6035040" y="2697480"/>
            <a:ext cx="164592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B5BBC8"/>
                </a:solidFill>
              </a:rPr>
              <a:t>→</a:t>
            </a:r>
            <a:endParaRPr lang="en-US" sz="2000" dirty="0"/>
          </a:p>
        </p:txBody>
      </p:sp>
      <p:sp>
        <p:nvSpPr>
          <p:cNvPr id="17" name="Shape 15"/>
          <p:cNvSpPr/>
          <p:nvPr/>
        </p:nvSpPr>
        <p:spPr>
          <a:xfrm>
            <a:off x="6263640" y="2286000"/>
            <a:ext cx="1600200" cy="1051560"/>
          </a:xfrm>
          <a:prstGeom prst="roundRect">
            <a:avLst>
              <a:gd name="adj" fmla="val 6957"/>
            </a:avLst>
          </a:prstGeom>
          <a:solidFill>
            <a:srgbClr val="121A28"/>
          </a:solidFill>
          <a:ln w="12700">
            <a:solidFill>
              <a:srgbClr val="FFC4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6336792" y="2450592"/>
            <a:ext cx="2743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8C2E6"/>
                </a:solidFill>
              </a:rPr>
              <a:t>4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6428232" y="2697480"/>
            <a:ext cx="126187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4F5F7"/>
                </a:solidFill>
              </a:rPr>
              <a:t>Bottleneck analysis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7909560" y="2697480"/>
            <a:ext cx="164592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B5BBC8"/>
                </a:solidFill>
              </a:rPr>
              <a:t>→</a:t>
            </a:r>
            <a:endParaRPr lang="en-US" sz="2000" dirty="0"/>
          </a:p>
        </p:txBody>
      </p:sp>
      <p:sp>
        <p:nvSpPr>
          <p:cNvPr id="21" name="Shape 19"/>
          <p:cNvSpPr/>
          <p:nvPr/>
        </p:nvSpPr>
        <p:spPr>
          <a:xfrm>
            <a:off x="8138160" y="2286000"/>
            <a:ext cx="1600200" cy="1051560"/>
          </a:xfrm>
          <a:prstGeom prst="roundRect">
            <a:avLst>
              <a:gd name="adj" fmla="val 6957"/>
            </a:avLst>
          </a:prstGeom>
          <a:solidFill>
            <a:srgbClr val="121A28"/>
          </a:solidFill>
          <a:ln w="12700">
            <a:solidFill>
              <a:srgbClr val="2B364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8211312" y="2450592"/>
            <a:ext cx="2743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8C2E6"/>
                </a:solidFill>
              </a:rPr>
              <a:t>5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8302752" y="2697480"/>
            <a:ext cx="126187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4F5F7"/>
                </a:solidFill>
              </a:rPr>
              <a:t>Random Forest modeling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9784080" y="2697480"/>
            <a:ext cx="164592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B5BBC8"/>
                </a:solidFill>
              </a:rPr>
              <a:t>→</a:t>
            </a:r>
            <a:endParaRPr lang="en-US" sz="2000" dirty="0"/>
          </a:p>
        </p:txBody>
      </p:sp>
      <p:sp>
        <p:nvSpPr>
          <p:cNvPr id="25" name="Shape 23"/>
          <p:cNvSpPr/>
          <p:nvPr/>
        </p:nvSpPr>
        <p:spPr>
          <a:xfrm>
            <a:off x="10012680" y="2286000"/>
            <a:ext cx="1600200" cy="1051560"/>
          </a:xfrm>
          <a:prstGeom prst="roundRect">
            <a:avLst>
              <a:gd name="adj" fmla="val 6957"/>
            </a:avLst>
          </a:prstGeom>
          <a:solidFill>
            <a:srgbClr val="121A28"/>
          </a:solidFill>
          <a:ln w="12700">
            <a:solidFill>
              <a:srgbClr val="2B364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10085832" y="2450592"/>
            <a:ext cx="2743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8C2E6"/>
                </a:solidFill>
              </a:rPr>
              <a:t>6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10177272" y="2697480"/>
            <a:ext cx="126187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4F5F7"/>
                </a:solidFill>
              </a:rPr>
              <a:t>Streamlit decision dashboard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731520" y="4663440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B5BBC8"/>
                </a:solidFill>
              </a:rPr>
              <a:t>Final datasets: data/final/final_stage_level.csv and data/final/final_request_level.csv</a:t>
            </a:r>
            <a:endParaRPr lang="en-US" sz="1700" dirty="0"/>
          </a:p>
        </p:txBody>
      </p:sp>
      <p:sp>
        <p:nvSpPr>
          <p:cNvPr id="29" name="Text 27"/>
          <p:cNvSpPr/>
          <p:nvPr/>
        </p:nvSpPr>
        <p:spPr>
          <a:xfrm>
            <a:off x="11612880" y="6492240"/>
            <a:ext cx="228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F8796"/>
                </a:solidFill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50A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50A14"/>
          </a:solidFill>
          <a:ln w="12700">
            <a:solidFill>
              <a:srgbClr val="050A1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02920" y="320040"/>
            <a:ext cx="7132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4F5F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Data structure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02920" y="822960"/>
            <a:ext cx="7955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B5BBC8"/>
                </a:solidFill>
              </a:rPr>
              <a:t>Two linked datasets for process-level and request-level analysis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731520" y="1371600"/>
            <a:ext cx="5120640" cy="4389120"/>
          </a:xfrm>
          <a:prstGeom prst="roundRect">
            <a:avLst>
              <a:gd name="adj" fmla="val 1667"/>
            </a:avLst>
          </a:prstGeom>
          <a:solidFill>
            <a:srgbClr val="121A28"/>
          </a:solidFill>
          <a:ln w="12700">
            <a:solidFill>
              <a:srgbClr val="2B364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6309360" y="1371600"/>
            <a:ext cx="5120640" cy="4389120"/>
          </a:xfrm>
          <a:prstGeom prst="roundRect">
            <a:avLst>
              <a:gd name="adj" fmla="val 1667"/>
            </a:avLst>
          </a:prstGeom>
          <a:solidFill>
            <a:srgbClr val="121A28"/>
          </a:solidFill>
          <a:ln w="12700">
            <a:solidFill>
              <a:srgbClr val="2B364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1005840" y="164592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8C2E6"/>
                </a:solidFill>
              </a:rPr>
              <a:t>Stage-level dataset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1005840" y="2103120"/>
            <a:ext cx="4389120" cy="256032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177800" indent="-177800">
              <a:buSzPct val="100000"/>
              <a:buChar char="•"/>
            </a:pPr>
            <a:r>
              <a:rPr lang="en-US" sz="2100" dirty="0">
                <a:solidFill>
                  <a:srgbClr val="F4F5F7"/>
                </a:solidFill>
              </a:rPr>
              <a:t>Stage</a:t>
            </a:r>
            <a:endParaRPr lang="en-US" sz="2100" dirty="0"/>
          </a:p>
          <a:p>
            <a:pPr marL="177800" indent="-177800">
              <a:buSzPct val="100000"/>
              <a:buChar char="•"/>
            </a:pPr>
            <a:r>
              <a:rPr lang="en-US" sz="2100" dirty="0">
                <a:solidFill>
                  <a:srgbClr val="F4F5F7"/>
                </a:solidFill>
              </a:rPr>
              <a:t>Processing_Time / Waiting_Time / Total_Stage_Time</a:t>
            </a:r>
            <a:endParaRPr lang="en-US" sz="2100" dirty="0"/>
          </a:p>
          <a:p>
            <a:pPr marL="177800" indent="-177800">
              <a:buSzPct val="100000"/>
              <a:buChar char="•"/>
            </a:pPr>
            <a:r>
              <a:rPr lang="en-US" sz="2100" dirty="0">
                <a:solidFill>
                  <a:srgbClr val="F4F5F7"/>
                </a:solidFill>
              </a:rPr>
              <a:t>Rework_Flag</a:t>
            </a:r>
            <a:endParaRPr lang="en-US" sz="2100" dirty="0"/>
          </a:p>
          <a:p>
            <a:pPr marL="177800" indent="-177800">
              <a:buSzPct val="100000"/>
              <a:buChar char="•"/>
            </a:pPr>
            <a:r>
              <a:rPr lang="en-US" sz="2100" dirty="0">
                <a:solidFill>
                  <a:srgbClr val="F4F5F7"/>
                </a:solidFill>
              </a:rPr>
              <a:t>Start_Time / End_Time</a:t>
            </a:r>
            <a:endParaRPr lang="en-US" sz="2100" dirty="0"/>
          </a:p>
          <a:p>
            <a:pPr marL="177800" indent="-177800">
              <a:buSzPct val="100000"/>
              <a:buChar char="•"/>
            </a:pPr>
            <a:r>
              <a:rPr lang="en-US" sz="2100" dirty="0">
                <a:solidFill>
                  <a:srgbClr val="F4F5F7"/>
                </a:solidFill>
              </a:rPr>
              <a:t>Request_ID</a:t>
            </a:r>
            <a:endParaRPr lang="en-US" sz="2100" dirty="0"/>
          </a:p>
        </p:txBody>
      </p:sp>
      <p:sp>
        <p:nvSpPr>
          <p:cNvPr id="9" name="Text 7"/>
          <p:cNvSpPr/>
          <p:nvPr/>
        </p:nvSpPr>
        <p:spPr>
          <a:xfrm>
            <a:off x="6583680" y="164592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C400"/>
                </a:solidFill>
              </a:rPr>
              <a:t>Request-level dataset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6583680" y="2103120"/>
            <a:ext cx="4389120" cy="256032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177800" indent="-177800">
              <a:buSzPct val="100000"/>
              <a:buChar char="•"/>
            </a:pPr>
            <a:r>
              <a:rPr lang="en-US" sz="2100" dirty="0">
                <a:solidFill>
                  <a:srgbClr val="F4F5F7"/>
                </a:solidFill>
              </a:rPr>
              <a:t>Total_TAT / Total_Processing / Total_Waiting</a:t>
            </a:r>
            <a:endParaRPr lang="en-US" sz="2100" dirty="0"/>
          </a:p>
          <a:p>
            <a:pPr marL="177800" indent="-177800">
              <a:buSzPct val="100000"/>
              <a:buChar char="•"/>
            </a:pPr>
            <a:r>
              <a:rPr lang="en-US" sz="2100" dirty="0">
                <a:solidFill>
                  <a:srgbClr val="F4F5F7"/>
                </a:solidFill>
              </a:rPr>
              <a:t>SLA_Hours / Delayed_Flag</a:t>
            </a:r>
            <a:endParaRPr lang="en-US" sz="2100" dirty="0"/>
          </a:p>
          <a:p>
            <a:pPr marL="177800" indent="-177800">
              <a:buSzPct val="100000"/>
              <a:buChar char="•"/>
            </a:pPr>
            <a:r>
              <a:rPr lang="en-US" sz="2100" dirty="0">
                <a:solidFill>
                  <a:srgbClr val="F4F5F7"/>
                </a:solidFill>
              </a:rPr>
              <a:t>Request_Type / Priority / Department / Vendor</a:t>
            </a:r>
            <a:endParaRPr lang="en-US" sz="2100" dirty="0"/>
          </a:p>
          <a:p>
            <a:pPr marL="177800" indent="-177800">
              <a:buSzPct val="100000"/>
              <a:buChar char="•"/>
            </a:pPr>
            <a:r>
              <a:rPr lang="en-US" sz="2100" dirty="0">
                <a:solidFill>
                  <a:srgbClr val="F4F5F7"/>
                </a:solidFill>
              </a:rPr>
              <a:t>Complexity_Score / Num_Stages / Max_Stage_Delay</a:t>
            </a:r>
            <a:endParaRPr lang="en-US" sz="2100" dirty="0"/>
          </a:p>
          <a:p>
            <a:pPr marL="177800" indent="-177800">
              <a:buSzPct val="100000"/>
              <a:buChar char="•"/>
            </a:pPr>
            <a:r>
              <a:rPr lang="en-US" sz="2100" dirty="0">
                <a:solidFill>
                  <a:srgbClr val="F4F5F7"/>
                </a:solidFill>
              </a:rPr>
              <a:t>Bottleneck_Stage</a:t>
            </a:r>
            <a:endParaRPr lang="en-US" sz="2100" dirty="0"/>
          </a:p>
        </p:txBody>
      </p:sp>
      <p:sp>
        <p:nvSpPr>
          <p:cNvPr id="11" name="Text 9"/>
          <p:cNvSpPr/>
          <p:nvPr/>
        </p:nvSpPr>
        <p:spPr>
          <a:xfrm>
            <a:off x="11612880" y="6492240"/>
            <a:ext cx="228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F8796"/>
                </a:solidFill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50A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50A14"/>
          </a:solidFill>
          <a:ln w="12700">
            <a:solidFill>
              <a:srgbClr val="050A1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02920" y="320040"/>
            <a:ext cx="7132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4F5F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Executive dashboard view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02920" y="822960"/>
            <a:ext cx="7955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B5BBC8"/>
                </a:solidFill>
              </a:rPr>
              <a:t>The dashboard surfaces workload, delay level, SLA gap, bottleneck, and action priority</a:t>
            </a:r>
            <a:endParaRPr lang="en-US" sz="1400" dirty="0"/>
          </a:p>
        </p:txBody>
      </p:sp>
      <p:pic>
        <p:nvPicPr>
          <p:cNvPr id="5" name="Image 0" descr="/mnt/data/dashboard_overvie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1196694"/>
            <a:ext cx="11155680" cy="5058971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1612880" y="6492240"/>
            <a:ext cx="228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F8796"/>
                </a:solidFill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50A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50A14"/>
          </a:solidFill>
          <a:ln w="12700">
            <a:solidFill>
              <a:srgbClr val="050A1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02920" y="320040"/>
            <a:ext cx="7132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4F5F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Core EDA findings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02920" y="822960"/>
            <a:ext cx="7955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B5BBC8"/>
                </a:solidFill>
              </a:rPr>
              <a:t>High-level patterns before deeper bottleneck diagnosis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02920" y="832104"/>
            <a:ext cx="11109960" cy="2176272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177800" indent="-177800">
              <a:buSzPct val="100000"/>
              <a:buChar char="•"/>
            </a:pPr>
            <a:r>
              <a:rPr lang="en-US" sz="2100" dirty="0">
                <a:solidFill>
                  <a:srgbClr val="F4F5F7"/>
                </a:solidFill>
              </a:rPr>
              <a:t>Turnaround time varies meaningfully across request types, departments, and vendor categories.</a:t>
            </a:r>
            <a:endParaRPr lang="en-US" sz="2100" dirty="0"/>
          </a:p>
          <a:p>
            <a:pPr marL="177800" indent="-177800">
              <a:buSzPct val="100000"/>
              <a:buChar char="•"/>
            </a:pPr>
            <a:r>
              <a:rPr lang="en-US" sz="2100" dirty="0">
                <a:solidFill>
                  <a:srgbClr val="F4F5F7"/>
                </a:solidFill>
              </a:rPr>
              <a:t>Higher complexity and higher-value requests show stronger delay tendency.</a:t>
            </a:r>
            <a:endParaRPr lang="en-US" sz="2100" dirty="0"/>
          </a:p>
          <a:p>
            <a:pPr marL="177800" indent="-177800">
              <a:buSzPct val="100000"/>
              <a:buChar char="•"/>
            </a:pPr>
            <a:r>
              <a:rPr lang="en-US" sz="2100" dirty="0">
                <a:solidFill>
                  <a:srgbClr val="F4F5F7"/>
                </a:solidFill>
              </a:rPr>
              <a:t>Rework events materially increase stage duration and amplify overall turnaround time.</a:t>
            </a:r>
            <a:endParaRPr lang="en-US" sz="2100" dirty="0"/>
          </a:p>
        </p:txBody>
      </p:sp>
      <p:sp>
        <p:nvSpPr>
          <p:cNvPr id="7" name="Text 4"/>
          <p:cNvSpPr/>
          <p:nvPr/>
        </p:nvSpPr>
        <p:spPr>
          <a:xfrm>
            <a:off x="11612880" y="6492240"/>
            <a:ext cx="228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F8796"/>
                </a:solidFill>
              </a:rPr>
              <a:t>6</a:t>
            </a:r>
            <a:endParaRPr lang="en-US" sz="900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4C495E39-716E-A81A-239B-2419C81A868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2862072"/>
            <a:ext cx="10954512" cy="3721608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50A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50A14"/>
          </a:solidFill>
          <a:ln w="12700">
            <a:solidFill>
              <a:srgbClr val="050A1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02920" y="320040"/>
            <a:ext cx="7132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4F5F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Bottleneck diagnosis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02920" y="822960"/>
            <a:ext cx="7955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B5BBC8"/>
                </a:solidFill>
              </a:rPr>
              <a:t>Delays are concentrated in specific stages rather than evenly spread</a:t>
            </a:r>
            <a:endParaRPr lang="en-US" sz="1400" dirty="0"/>
          </a:p>
        </p:txBody>
      </p:sp>
      <p:pic>
        <p:nvPicPr>
          <p:cNvPr id="5" name="Image 0" descr="/mnt/data/bottleneck_analysi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01105" y="1097280"/>
            <a:ext cx="8359310" cy="521208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1612880" y="6492240"/>
            <a:ext cx="228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F8796"/>
                </a:solidFill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50A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33868" y="-25401"/>
            <a:ext cx="12188952" cy="6858000"/>
          </a:xfrm>
          <a:prstGeom prst="rect">
            <a:avLst/>
          </a:prstGeom>
          <a:solidFill>
            <a:srgbClr val="050A14"/>
          </a:solidFill>
          <a:ln w="12700">
            <a:solidFill>
              <a:srgbClr val="050A1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02920" y="320040"/>
            <a:ext cx="7132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4F5F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Key bottleneck insight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02920" y="822960"/>
            <a:ext cx="7955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B5BBC8"/>
                </a:solidFill>
              </a:rPr>
              <a:t>Finance Approval emerged as the dominant workflow constraint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822960" y="1463040"/>
            <a:ext cx="3291840" cy="3383280"/>
          </a:xfrm>
          <a:prstGeom prst="roundRect">
            <a:avLst>
              <a:gd name="adj" fmla="val 2222"/>
            </a:avLst>
          </a:prstGeom>
          <a:solidFill>
            <a:srgbClr val="121A28"/>
          </a:solidFill>
          <a:ln w="12700">
            <a:solidFill>
              <a:srgbClr val="FF6A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1097279" y="1828800"/>
            <a:ext cx="2468879" cy="4571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B5BBC8"/>
                </a:solidFill>
              </a:rPr>
              <a:t>Worst-performing stage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097280" y="2341881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4F5F7"/>
                </a:solidFill>
              </a:rPr>
              <a:t>Finance Approval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1097280" y="2981964"/>
            <a:ext cx="24688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B5BBC8"/>
                </a:solidFill>
              </a:rPr>
              <a:t>Primary delay driver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097280" y="3502162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C400"/>
                </a:solidFill>
              </a:rPr>
              <a:t>Processing time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1097280" y="4197096"/>
            <a:ext cx="24688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F4F5F7"/>
                </a:solidFill>
              </a:rPr>
              <a:t>Average stage time ≈ 38.7 hours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4572000" y="1737360"/>
            <a:ext cx="6400800" cy="256032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177800" indent="-177800">
              <a:buSzPct val="100000"/>
              <a:buChar char="•"/>
            </a:pPr>
            <a:r>
              <a:rPr lang="en-US" sz="2100" dirty="0">
                <a:solidFill>
                  <a:srgbClr val="F4F5F7"/>
                </a:solidFill>
              </a:rPr>
              <a:t>This indicates the bottleneck is being created inside the stage, not merely inherited from upstream waiting.</a:t>
            </a:r>
            <a:endParaRPr lang="en-US" sz="2100" dirty="0"/>
          </a:p>
          <a:p>
            <a:pPr marL="177800" indent="-177800">
              <a:buSzPct val="100000"/>
              <a:buChar char="•"/>
            </a:pPr>
            <a:r>
              <a:rPr lang="en-US" sz="2100" dirty="0">
                <a:solidFill>
                  <a:srgbClr val="F4F5F7"/>
                </a:solidFill>
              </a:rPr>
              <a:t>The dominant stage becomes the highest-value intervention point for managers.</a:t>
            </a:r>
            <a:endParaRPr lang="en-US" sz="2100" dirty="0"/>
          </a:p>
        </p:txBody>
      </p:sp>
      <p:sp>
        <p:nvSpPr>
          <p:cNvPr id="12" name="Text 10"/>
          <p:cNvSpPr/>
          <p:nvPr/>
        </p:nvSpPr>
        <p:spPr>
          <a:xfrm>
            <a:off x="11612880" y="6492240"/>
            <a:ext cx="228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F8796"/>
                </a:solidFill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50A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" y="0"/>
            <a:ext cx="12188952" cy="6858000"/>
          </a:xfrm>
          <a:prstGeom prst="rect">
            <a:avLst/>
          </a:prstGeom>
          <a:solidFill>
            <a:srgbClr val="050A14"/>
          </a:solidFill>
          <a:ln w="12700">
            <a:solidFill>
              <a:srgbClr val="050A1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02920" y="320040"/>
            <a:ext cx="7132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4F5F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Operational drivers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02920" y="822960"/>
            <a:ext cx="7955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B5BBC8"/>
                </a:solidFill>
              </a:rPr>
              <a:t>Vendor type, and department context influence turnaround time</a:t>
            </a:r>
            <a:endParaRPr lang="en-US" sz="1400" dirty="0"/>
          </a:p>
        </p:txBody>
      </p:sp>
      <p:sp>
        <p:nvSpPr>
          <p:cNvPr id="7" name="Text 3"/>
          <p:cNvSpPr/>
          <p:nvPr/>
        </p:nvSpPr>
        <p:spPr>
          <a:xfrm>
            <a:off x="11612880" y="6492240"/>
            <a:ext cx="228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F8796"/>
                </a:solidFill>
              </a:rPr>
              <a:t>9</a:t>
            </a:r>
            <a:endParaRPr lang="en-US" sz="900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366F4DB0-9918-2D1C-550E-B3FAA0FEAC6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9184" y="1259497"/>
            <a:ext cx="11430000" cy="4796205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50A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50A14"/>
          </a:solidFill>
          <a:ln w="12700">
            <a:solidFill>
              <a:srgbClr val="050A14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02920" y="320040"/>
            <a:ext cx="7132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4F5F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Modeling approach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02920" y="822960"/>
            <a:ext cx="7955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B5BBC8"/>
                </a:solidFill>
              </a:rPr>
              <a:t>Leakage-controlled Random Forest classifier for delay-risk prediction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731520" y="1325880"/>
            <a:ext cx="5760720" cy="256032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177800" indent="-177800">
              <a:buSzPct val="100000"/>
              <a:buChar char="•"/>
            </a:pPr>
            <a:r>
              <a:rPr lang="en-US" sz="2100" dirty="0">
                <a:solidFill>
                  <a:srgbClr val="F4F5F7"/>
                </a:solidFill>
              </a:rPr>
              <a:t>Target variable: Delayed_Flag.</a:t>
            </a:r>
            <a:endParaRPr lang="en-US" sz="2100" dirty="0"/>
          </a:p>
          <a:p>
            <a:pPr marL="177800" indent="-177800">
              <a:buSzPct val="100000"/>
              <a:buChar char="•"/>
            </a:pPr>
            <a:r>
              <a:rPr lang="en-US" sz="2100" dirty="0">
                <a:solidFill>
                  <a:srgbClr val="F4F5F7"/>
                </a:solidFill>
              </a:rPr>
              <a:t>Model: Random Forest classifier using request and workflow features.</a:t>
            </a:r>
            <a:endParaRPr lang="en-US" sz="2100" dirty="0"/>
          </a:p>
          <a:p>
            <a:pPr marL="177800" indent="-177800">
              <a:buSzPct val="100000"/>
              <a:buChar char="•"/>
            </a:pPr>
            <a:r>
              <a:rPr lang="en-US" sz="2100" dirty="0">
                <a:solidFill>
                  <a:srgbClr val="F4F5F7"/>
                </a:solidFill>
              </a:rPr>
              <a:t>Leakage removed: Delay_Ratio and SLA_Breach_Hours.</a:t>
            </a:r>
            <a:endParaRPr lang="en-US" sz="2100" dirty="0"/>
          </a:p>
          <a:p>
            <a:pPr marL="177800" indent="-177800">
              <a:buSzPct val="100000"/>
              <a:buChar char="•"/>
            </a:pPr>
            <a:r>
              <a:rPr lang="en-US" sz="2100" dirty="0">
                <a:solidFill>
                  <a:srgbClr val="F4F5F7"/>
                </a:solidFill>
              </a:rPr>
              <a:t>Train/test split used a realistic class balance (≈68.5% non-delayed, 31.5% delayed).</a:t>
            </a:r>
            <a:endParaRPr lang="en-US" sz="2100" dirty="0"/>
          </a:p>
        </p:txBody>
      </p:sp>
      <p:sp>
        <p:nvSpPr>
          <p:cNvPr id="6" name="Shape 4"/>
          <p:cNvSpPr/>
          <p:nvPr/>
        </p:nvSpPr>
        <p:spPr>
          <a:xfrm>
            <a:off x="6949440" y="1417320"/>
            <a:ext cx="4389120" cy="3383280"/>
          </a:xfrm>
          <a:prstGeom prst="roundRect">
            <a:avLst>
              <a:gd name="adj" fmla="val 2162"/>
            </a:avLst>
          </a:prstGeom>
          <a:solidFill>
            <a:srgbClr val="121A28"/>
          </a:solidFill>
          <a:ln w="12700">
            <a:solidFill>
              <a:srgbClr val="2B364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7269480" y="178308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8C2E6"/>
                </a:solidFill>
              </a:rPr>
              <a:t>Top predictive signals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7406640" y="2240280"/>
            <a:ext cx="33832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F4F5F7"/>
                </a:solidFill>
              </a:rPr>
              <a:t>• Total_Waiting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7406640" y="2651760"/>
            <a:ext cx="33832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F4F5F7"/>
                </a:solidFill>
              </a:rPr>
              <a:t>• Max_Stage_Delay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7406640" y="3063240"/>
            <a:ext cx="33832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F4F5F7"/>
                </a:solidFill>
              </a:rPr>
              <a:t>• Complexity_Score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7406640" y="3474720"/>
            <a:ext cx="33832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F4F5F7"/>
                </a:solidFill>
              </a:rPr>
              <a:t>• Num_Stages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7406640" y="3886200"/>
            <a:ext cx="33832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F4F5F7"/>
                </a:solidFill>
              </a:rPr>
              <a:t>• Request_Amount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1492564" y="6501865"/>
            <a:ext cx="348916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F8796"/>
                </a:solidFill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50A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43493" y="0"/>
            <a:ext cx="12188952" cy="6858000"/>
          </a:xfrm>
          <a:prstGeom prst="rect">
            <a:avLst/>
          </a:prstGeom>
          <a:solidFill>
            <a:srgbClr val="050A14"/>
          </a:solidFill>
          <a:ln w="12700">
            <a:solidFill>
              <a:srgbClr val="050A14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02920" y="320040"/>
            <a:ext cx="7132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4F5F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Model results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02920" y="822960"/>
            <a:ext cx="7955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B5BBC8"/>
                </a:solidFill>
              </a:rPr>
              <a:t>High performance with realistic non-perfect error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731520" y="1371600"/>
            <a:ext cx="3542097" cy="3335154"/>
          </a:xfrm>
          <a:prstGeom prst="roundRect">
            <a:avLst>
              <a:gd name="adj" fmla="val 2105"/>
            </a:avLst>
          </a:prstGeom>
          <a:solidFill>
            <a:srgbClr val="121A28"/>
          </a:solidFill>
          <a:ln w="12700">
            <a:solidFill>
              <a:srgbClr val="2B364B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1051560" y="1737360"/>
            <a:ext cx="2453640" cy="29027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4F5F7"/>
                </a:solidFill>
              </a:rPr>
              <a:t>Confusion matrix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1097280" y="2423160"/>
            <a:ext cx="914400" cy="731520"/>
          </a:xfrm>
          <a:prstGeom prst="rect">
            <a:avLst/>
          </a:prstGeom>
          <a:solidFill>
            <a:srgbClr val="20D46B">
              <a:alpha val="80000"/>
            </a:srgbClr>
          </a:solidFill>
          <a:ln w="12700">
            <a:solidFill>
              <a:srgbClr val="050A1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1097280" y="2686560"/>
            <a:ext cx="914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4F5F7"/>
                </a:solidFill>
              </a:rPr>
              <a:t>655</a:t>
            </a:r>
            <a:endParaRPr lang="en-US" sz="2400" dirty="0"/>
          </a:p>
        </p:txBody>
      </p:sp>
      <p:sp>
        <p:nvSpPr>
          <p:cNvPr id="9" name="Shape 7"/>
          <p:cNvSpPr/>
          <p:nvPr/>
        </p:nvSpPr>
        <p:spPr>
          <a:xfrm>
            <a:off x="2480912" y="2412240"/>
            <a:ext cx="914400" cy="731520"/>
          </a:xfrm>
          <a:prstGeom prst="rect">
            <a:avLst/>
          </a:prstGeom>
          <a:solidFill>
            <a:srgbClr val="FF6A4A">
              <a:alpha val="80000"/>
            </a:srgbClr>
          </a:solidFill>
          <a:ln w="12700">
            <a:solidFill>
              <a:srgbClr val="050A14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2462865" y="2681607"/>
            <a:ext cx="914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4F5F7"/>
                </a:solidFill>
              </a:rPr>
              <a:t>30</a:t>
            </a:r>
            <a:endParaRPr lang="en-US" sz="2400" dirty="0"/>
          </a:p>
        </p:txBody>
      </p:sp>
      <p:sp>
        <p:nvSpPr>
          <p:cNvPr id="11" name="Shape 9"/>
          <p:cNvSpPr/>
          <p:nvPr/>
        </p:nvSpPr>
        <p:spPr>
          <a:xfrm>
            <a:off x="1097280" y="3376932"/>
            <a:ext cx="914400" cy="731520"/>
          </a:xfrm>
          <a:prstGeom prst="rect">
            <a:avLst/>
          </a:prstGeom>
          <a:solidFill>
            <a:srgbClr val="FF6A4A">
              <a:alpha val="80000"/>
            </a:srgbClr>
          </a:solidFill>
          <a:ln w="12700">
            <a:solidFill>
              <a:srgbClr val="050A1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1059182" y="3636095"/>
            <a:ext cx="914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4F5F7"/>
                </a:solidFill>
              </a:rPr>
              <a:t>16</a:t>
            </a:r>
            <a:endParaRPr lang="en-US" sz="2400" dirty="0"/>
          </a:p>
        </p:txBody>
      </p:sp>
      <p:sp>
        <p:nvSpPr>
          <p:cNvPr id="13" name="Shape 11"/>
          <p:cNvSpPr/>
          <p:nvPr/>
        </p:nvSpPr>
        <p:spPr>
          <a:xfrm>
            <a:off x="2488352" y="3376932"/>
            <a:ext cx="914400" cy="731520"/>
          </a:xfrm>
          <a:prstGeom prst="rect">
            <a:avLst/>
          </a:prstGeom>
          <a:solidFill>
            <a:srgbClr val="20D46B">
              <a:alpha val="80000"/>
            </a:srgbClr>
          </a:solidFill>
          <a:ln w="12700">
            <a:solidFill>
              <a:srgbClr val="050A14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2479882" y="3636096"/>
            <a:ext cx="914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4F5F7"/>
                </a:solidFill>
              </a:rPr>
              <a:t>299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1310640" y="2194560"/>
            <a:ext cx="21945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B5BBC8"/>
                </a:solidFill>
              </a:rPr>
              <a:t>Pred 0                    Pred 1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777240" y="2631440"/>
            <a:ext cx="274320" cy="14312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B5BBC8"/>
                </a:solidFill>
              </a:rPr>
              <a:t>True 0</a:t>
            </a:r>
            <a:endParaRPr lang="en-US" sz="1400" dirty="0"/>
          </a:p>
          <a:p>
            <a:pPr marL="0" indent="0" algn="ctr">
              <a:buNone/>
            </a:pPr>
            <a:endParaRPr lang="en-US" sz="1400" dirty="0"/>
          </a:p>
          <a:p>
            <a:pPr marL="0" indent="0" algn="ctr">
              <a:buNone/>
            </a:pPr>
            <a:r>
              <a:rPr lang="en-US" sz="1400" dirty="0">
                <a:solidFill>
                  <a:srgbClr val="B5BBC8"/>
                </a:solidFill>
              </a:rPr>
              <a:t>True 1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4937760" y="1737360"/>
            <a:ext cx="6035040" cy="256032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177800" indent="-177800">
              <a:buSzPct val="100000"/>
              <a:buChar char="•"/>
            </a:pPr>
            <a:r>
              <a:rPr lang="en-US" sz="2100" dirty="0">
                <a:solidFill>
                  <a:srgbClr val="F4F5F7"/>
                </a:solidFill>
              </a:rPr>
              <a:t>Accuracy: 95%</a:t>
            </a:r>
            <a:endParaRPr lang="en-US" sz="2100" dirty="0"/>
          </a:p>
          <a:p>
            <a:pPr marL="177800" indent="-177800">
              <a:buSzPct val="100000"/>
              <a:buChar char="•"/>
            </a:pPr>
            <a:r>
              <a:rPr lang="en-US" sz="2100" dirty="0">
                <a:solidFill>
                  <a:srgbClr val="F4F5F7"/>
                </a:solidFill>
              </a:rPr>
              <a:t>Recall for delayed requests: 95%</a:t>
            </a:r>
            <a:endParaRPr lang="en-US" sz="2100" dirty="0"/>
          </a:p>
          <a:p>
            <a:pPr marL="177800" indent="-177800">
              <a:buSzPct val="100000"/>
              <a:buChar char="•"/>
            </a:pPr>
            <a:r>
              <a:rPr lang="en-US" sz="2100" dirty="0">
                <a:solidFill>
                  <a:srgbClr val="F4F5F7"/>
                </a:solidFill>
              </a:rPr>
              <a:t>False negatives stayed low, which matters because missed risky requests are operationally costly.</a:t>
            </a:r>
            <a:endParaRPr lang="en-US" sz="2100" dirty="0"/>
          </a:p>
        </p:txBody>
      </p:sp>
      <p:sp>
        <p:nvSpPr>
          <p:cNvPr id="18" name="Text 16"/>
          <p:cNvSpPr/>
          <p:nvPr/>
        </p:nvSpPr>
        <p:spPr>
          <a:xfrm>
            <a:off x="11482939" y="6492240"/>
            <a:ext cx="358541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F8796"/>
                </a:solidFill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50A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50A14"/>
          </a:solidFill>
          <a:ln w="12700">
            <a:solidFill>
              <a:srgbClr val="050A1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89548" y="548640"/>
            <a:ext cx="7132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4F5F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Decision support interface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89548" y="1051560"/>
            <a:ext cx="7955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B5BBC8"/>
                </a:solidFill>
              </a:rPr>
              <a:t>The model is embedded inside a usable dashboard experience</a:t>
            </a:r>
            <a:endParaRPr lang="en-US" sz="1400" dirty="0"/>
          </a:p>
        </p:txBody>
      </p:sp>
      <p:pic>
        <p:nvPicPr>
          <p:cNvPr id="5" name="Image 0" descr="/mnt/data/prediction_secti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17490" y="1554480"/>
            <a:ext cx="8353971" cy="484632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1472333" y="6492240"/>
            <a:ext cx="369147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F8796"/>
                </a:solidFill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50A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443" y="0"/>
            <a:ext cx="12188952" cy="6858000"/>
          </a:xfrm>
          <a:prstGeom prst="rect">
            <a:avLst/>
          </a:prstGeom>
          <a:solidFill>
            <a:srgbClr val="050A14"/>
          </a:solidFill>
          <a:ln w="12700">
            <a:solidFill>
              <a:srgbClr val="050A14"/>
            </a:solidFill>
            <a:prstDash val="solid"/>
          </a:ln>
        </p:spPr>
        <p:txBody>
          <a:bodyPr/>
          <a:lstStyle/>
          <a:p>
            <a:r>
              <a:rPr lang="en-US" dirty="0"/>
              <a:t>Saami Anware  </a:t>
            </a:r>
          </a:p>
          <a:p>
            <a:r>
              <a:rPr lang="en-US" dirty="0"/>
              <a:t>Data Analyst | Business Analytics Focus  </a:t>
            </a:r>
          </a:p>
          <a:p>
            <a:r>
              <a:rPr lang="en-US" dirty="0"/>
              <a:t>MSc Data Science </a:t>
            </a:r>
          </a:p>
        </p:txBody>
      </p:sp>
      <p:sp>
        <p:nvSpPr>
          <p:cNvPr id="3" name="Text 1"/>
          <p:cNvSpPr/>
          <p:nvPr/>
        </p:nvSpPr>
        <p:spPr>
          <a:xfrm>
            <a:off x="647299" y="688343"/>
            <a:ext cx="7132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4F5F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Conclusion and recommendations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47299" y="1191263"/>
            <a:ext cx="7955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B5BBC8"/>
                </a:solidFill>
              </a:rPr>
              <a:t>What the project shows and what managers should do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731520" y="1978170"/>
            <a:ext cx="6583680" cy="2930138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177800" indent="-177800">
              <a:buSzPct val="100000"/>
              <a:buChar char="•"/>
            </a:pPr>
            <a:r>
              <a:rPr lang="en-US" sz="2100" dirty="0">
                <a:solidFill>
                  <a:srgbClr val="F4F5F7"/>
                </a:solidFill>
              </a:rPr>
              <a:t>Procurement delays are concentrated, explainable, and stage-dependent rather than random.</a:t>
            </a:r>
            <a:endParaRPr lang="en-US" sz="2100" dirty="0"/>
          </a:p>
          <a:p>
            <a:pPr marL="177800" indent="-177800">
              <a:buSzPct val="100000"/>
              <a:buChar char="•"/>
            </a:pPr>
            <a:r>
              <a:rPr lang="en-US" sz="2100" dirty="0">
                <a:solidFill>
                  <a:srgbClr val="F4F5F7"/>
                </a:solidFill>
              </a:rPr>
              <a:t>Finance Approval is the highest-priority intervention point in the current workflow design.</a:t>
            </a:r>
            <a:endParaRPr lang="en-US" sz="2100" dirty="0"/>
          </a:p>
          <a:p>
            <a:pPr marL="177800" indent="-177800">
              <a:buSzPct val="100000"/>
              <a:buChar char="•"/>
            </a:pPr>
            <a:r>
              <a:rPr lang="en-US" sz="2100" dirty="0">
                <a:solidFill>
                  <a:srgbClr val="F4F5F7"/>
                </a:solidFill>
              </a:rPr>
              <a:t>Waiting and rework are not enough to explain all delay; execution capacity inside key stages also matters.</a:t>
            </a:r>
            <a:endParaRPr lang="en-US" sz="2100" dirty="0"/>
          </a:p>
          <a:p>
            <a:pPr marL="177800" indent="-177800">
              <a:buSzPct val="100000"/>
              <a:buChar char="•"/>
            </a:pPr>
            <a:r>
              <a:rPr lang="en-US" sz="2100" dirty="0">
                <a:solidFill>
                  <a:srgbClr val="F4F5F7"/>
                </a:solidFill>
              </a:rPr>
              <a:t>The dashboard turns the analysis into an actionable decision-support tool for monitoring and early risk screening.</a:t>
            </a:r>
          </a:p>
          <a:p>
            <a:pPr marL="177800" indent="-177800">
              <a:buSzPct val="100000"/>
              <a:buChar char="•"/>
            </a:pPr>
            <a:r>
              <a:rPr lang="en-US" sz="2100" dirty="0">
                <a:solidFill>
                  <a:schemeClr val="bg1"/>
                </a:solidFill>
              </a:rPr>
              <a:t>This project transforms procurement workflows from passive reporting systems into proactive decision intelligence tools.</a:t>
            </a:r>
          </a:p>
        </p:txBody>
      </p:sp>
      <p:sp>
        <p:nvSpPr>
          <p:cNvPr id="6" name="Shape 4"/>
          <p:cNvSpPr/>
          <p:nvPr/>
        </p:nvSpPr>
        <p:spPr>
          <a:xfrm>
            <a:off x="7680960" y="1554480"/>
            <a:ext cx="3566160" cy="3291840"/>
          </a:xfrm>
          <a:prstGeom prst="roundRect">
            <a:avLst>
              <a:gd name="adj" fmla="val 2222"/>
            </a:avLst>
          </a:prstGeom>
          <a:solidFill>
            <a:srgbClr val="121A28"/>
          </a:solidFill>
          <a:ln w="12700">
            <a:solidFill>
              <a:srgbClr val="20D4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8001000" y="1874520"/>
            <a:ext cx="2468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20D46B"/>
                </a:solidFill>
              </a:rPr>
              <a:t>Recommended actions</a:t>
            </a:r>
            <a:endParaRPr lang="en-US" sz="2100" dirty="0"/>
          </a:p>
        </p:txBody>
      </p:sp>
      <p:sp>
        <p:nvSpPr>
          <p:cNvPr id="8" name="Text 6"/>
          <p:cNvSpPr/>
          <p:nvPr/>
        </p:nvSpPr>
        <p:spPr>
          <a:xfrm>
            <a:off x="8046720" y="2509515"/>
            <a:ext cx="2834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F4F5F7"/>
                </a:solidFill>
              </a:rPr>
              <a:t>• Increase capacity or streamline policy at Finance Approval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8046720" y="3174152"/>
            <a:ext cx="2834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F4F5F7"/>
                </a:solidFill>
              </a:rPr>
              <a:t>• Track rework loops as an explicit process KPI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8046720" y="3815247"/>
            <a:ext cx="2834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F4F5F7"/>
                </a:solidFill>
              </a:rPr>
              <a:t>• Use the risk model to triage high-risk requests earlier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11511815" y="6492240"/>
            <a:ext cx="329665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F8796"/>
                </a:solidFill>
              </a:rPr>
              <a:t>13</a:t>
            </a:r>
            <a:endParaRPr lang="en-US" sz="900" dirty="0"/>
          </a:p>
        </p:txBody>
      </p:sp>
      <p:sp>
        <p:nvSpPr>
          <p:cNvPr id="12" name="Text 3">
            <a:extLst>
              <a:ext uri="{FF2B5EF4-FFF2-40B4-BE49-F238E27FC236}">
                <a16:creationId xmlns:a16="http://schemas.microsoft.com/office/drawing/2014/main" id="{5874726A-1070-5E9B-3F19-4A5F5322F3F3}"/>
              </a:ext>
            </a:extLst>
          </p:cNvPr>
          <p:cNvSpPr/>
          <p:nvPr/>
        </p:nvSpPr>
        <p:spPr>
          <a:xfrm>
            <a:off x="5108020" y="6024400"/>
            <a:ext cx="1953661" cy="67850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000" b="1" dirty="0">
                <a:solidFill>
                  <a:srgbClr val="FFC400"/>
                </a:solidFill>
              </a:rPr>
              <a:t>Saami Anware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64</TotalTime>
  <Words>714</Words>
  <Application>Microsoft Office PowerPoint</Application>
  <PresentationFormat>Widescreen</PresentationFormat>
  <Paragraphs>143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OpenAI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Diagnosing Bottlenecks in Procurement Approval Processes</dc:title>
  <dc:subject>Procurement Bottleneck Analysis</dc:subject>
  <dc:creator>OpenAI</dc:creator>
  <cp:lastModifiedBy>Saami Anware</cp:lastModifiedBy>
  <cp:revision>6</cp:revision>
  <dcterms:created xsi:type="dcterms:W3CDTF">2026-04-10T06:28:45Z</dcterms:created>
  <dcterms:modified xsi:type="dcterms:W3CDTF">2026-04-10T07:43:47Z</dcterms:modified>
</cp:coreProperties>
</file>